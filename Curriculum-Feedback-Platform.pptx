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12B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12B"/>
                </a:solidFill>
                <a:latin typeface="Calibri"/>
              </a:rPr>
              <a:t>Average rating by aspect — % of scale (sample)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(%)</c:v>
                </c:pt>
              </c:strCache>
            </c:strRef>
          </c:tx>
          <c:spPr>
            <a:solidFill>
              <a:srgbClr val="0E857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Course design</c:v>
                  </c:pt>
                  <c:pt idx="1">
                    <c:v>Time allocation</c:v>
                  </c:pt>
                  <c:pt idx="2">
                    <c:v>Topic depth</c:v>
                  </c:pt>
                  <c:pt idx="3">
                    <c:v>Class delivery</c:v>
                  </c:pt>
                  <c:pt idx="4">
                    <c:v>Punctuality</c:v>
                  </c:pt>
                  <c:pt idx="5">
                    <c:v>Communication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71</c:v>
                </c:pt>
                <c:pt idx="2">
                  <c:v>66</c:v>
                </c:pt>
                <c:pt idx="3">
                  <c:v>88</c:v>
                </c:pt>
                <c:pt idx="4">
                  <c:v>90</c:v>
                </c:pt>
                <c:pt idx="5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9EDF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12B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12B"/>
                </a:solidFill>
                <a:latin typeface="Calibri"/>
              </a:rPr>
              <a:t>Free-text sentiment (sample)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577"/>
              </a:solidFill>
              <a:effectLst/>
            </c:spPr>
          </c:dPt>
          <c:dPt>
            <c:idx val="1"/>
            <c:bubble3D val="0"/>
            <c:spPr>
              <a:solidFill>
                <a:srgbClr val="5D7186"/>
              </a:solidFill>
              <a:effectLst/>
            </c:spPr>
          </c:dPt>
          <c:dPt>
            <c:idx val="2"/>
            <c:bubble3D val="0"/>
            <c:spPr>
              <a:solidFill>
                <a:srgbClr val="B04A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26</c:v>
                </c:pt>
                <c:pt idx="2">
                  <c:v>12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65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1051560"/>
            <a:ext cx="3566160" cy="3566160"/>
          </a:xfrm>
          <a:prstGeom prst="ellipse">
            <a:avLst/>
          </a:prstGeom>
          <a:solidFill>
            <a:srgbClr val="0E8577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606040"/>
            <a:ext cx="2148840" cy="2148840"/>
          </a:xfrm>
          <a:prstGeom prst="ellipse">
            <a:avLst/>
          </a:prstGeom>
          <a:solidFill>
            <a:srgbClr val="23B9A6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1600200"/>
            <a:ext cx="1234440" cy="123444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64040" y="2587752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4709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GROUPS, ONE PLATFORM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·  TEAM OF 4  ·  ~1 MONTH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7360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657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4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web app that collects curriculum feedback from five stakeholder groups — and turns raw responses into analysis and reports.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59028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2030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459028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stakeholder forms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52928" y="45902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030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89504" y="45902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panels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459028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030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64024" y="45902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· free tiers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32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79729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Member 1 ]   ·   [ Team Member 2 ]   ·   [ Team Member 3 ]   ·   [ Team Member 4 ]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16305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[ Guide Name ]           Institution:  [ College / Department Name 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platform?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6263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for a college to collect curriculum feedback from five stakeholder groups and turn it into analysis and reports.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scattered static forms (like Google Forms) that had no user management, no role-based routing, and no built-in analysis.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respondent is a pre-registered account that logs in and is automatically routed to the exact form for their stakeholder type.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manage accounts, edit the questions, run yearly feedback cycles, and read a live analytics dashboard.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60920" y="1874520"/>
            <a:ext cx="4263847" cy="397764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53528" y="2121408"/>
            <a:ext cx="3715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653528" y="2542032"/>
            <a:ext cx="3715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panels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53528" y="2798064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panel + Admin panel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53528" y="3200400"/>
            <a:ext cx="3715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3456432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by email or SAP ID; no public signup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53528" y="3858768"/>
            <a:ext cx="3715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53528" y="4114800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Academic-year feedback cycles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53528" y="4517136"/>
            <a:ext cx="3715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53528" y="4773168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only — a ₹0 budget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653528" y="5175504"/>
            <a:ext cx="37152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53528" y="5431536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 users initially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IN THE OLD APPROACH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rgbClr val="3347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382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23591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management or access 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2688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link could respond, with no notion of who a respondent actually was.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457200" cy="457200"/>
          </a:xfrm>
          <a:prstGeom prst="ellipse">
            <a:avLst/>
          </a:prstGeom>
          <a:solidFill>
            <a:srgbClr val="3347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552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52958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routing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38587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saw the same generic form, though each group should answer different questions.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736592"/>
            <a:ext cx="457200" cy="457200"/>
          </a:xfrm>
          <a:prstGeom prst="ellipse">
            <a:avLst/>
          </a:prstGeom>
          <a:solidFill>
            <a:srgbClr val="3347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7228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70001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50292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responses sat in a spreadsheet — no averages, no trends, no view of what was weak.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59168" y="1874520"/>
            <a:ext cx="4565599" cy="4069080"/>
          </a:xfrm>
          <a:prstGeom prst="roundRect">
            <a:avLst>
              <a:gd name="adj" fmla="val 2022"/>
            </a:avLst>
          </a:prstGeom>
          <a:solidFill>
            <a:srgbClr val="ECF5F3"/>
          </a:solidFill>
          <a:ln w="12700">
            <a:solidFill>
              <a:srgbClr val="BFE0DA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70064" y="2139696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70064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17536" y="2569464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structured feedback from all five groups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70064" y="3131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17536" y="3122676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each user to the correct form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70064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17536" y="3675888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admins control of users, questions &amp; cycles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42382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17536" y="4229100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responses into averages, trends &amp; insights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70064" y="4791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17536" y="4782312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data-integrity rules inside the database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53446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17536" y="5335524"/>
            <a:ext cx="3632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on free tiers — a ₹0 budget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staff roles, five respondent types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4114800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432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98064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users, departments, questions, cycles, analytics and audit logs.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968496"/>
            <a:ext cx="4114800" cy="1572768"/>
          </a:xfrm>
          <a:prstGeom prst="roundRect">
            <a:avLst>
              <a:gd name="adj" fmla="val 5233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Department (HOD)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admin pages, but scoped in the database to their own department’s people, responses and analytics.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1938528"/>
            <a:ext cx="6668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— EACH TYPE SEES A DIFFERENT FORM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6048" y="2340864"/>
            <a:ext cx="6668719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2423160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65776" y="24094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32704" y="234086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Peers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956048" y="2980944"/>
            <a:ext cx="6668719" cy="566928"/>
          </a:xfrm>
          <a:prstGeom prst="roundRect">
            <a:avLst>
              <a:gd name="adj" fmla="val 14516"/>
            </a:avLst>
          </a:prstGeom>
          <a:solidFill>
            <a:srgbClr val="EDF2F6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3063240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65776" y="30495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32704" y="298094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956048" y="3621024"/>
            <a:ext cx="6668719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3703320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65776" y="36896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32704" y="362102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&amp; Industry Experts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956048" y="4261104"/>
            <a:ext cx="6668719" cy="566928"/>
          </a:xfrm>
          <a:prstGeom prst="roundRect">
            <a:avLst>
              <a:gd name="adj" fmla="val 14516"/>
            </a:avLst>
          </a:prstGeom>
          <a:solidFill>
            <a:srgbClr val="EDF2F6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65776" y="4343400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65776" y="43296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32704" y="426110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956048" y="4901184"/>
            <a:ext cx="6668719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5776" y="4983480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65776" y="4969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632704" y="490118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4956048" y="5650992"/>
            <a:ext cx="6668719" cy="566928"/>
          </a:xfrm>
          <a:prstGeom prst="roundRect">
            <a:avLst>
              <a:gd name="adj" fmla="val 12903"/>
            </a:avLst>
          </a:prstGeom>
          <a:solidFill>
            <a:srgbClr val="FBF3E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75504" y="5650992"/>
            <a:ext cx="62663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faculty must be assigned a department; employers, alumni and academic peers sit outside the college structure.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buildable — and worth building?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76672" cy="1993392"/>
          </a:xfrm>
          <a:prstGeom prst="roundRect">
            <a:avLst>
              <a:gd name="adj" fmla="val 4128"/>
            </a:avLst>
          </a:prstGeom>
          <a:solidFill>
            <a:srgbClr val="ECF5F3"/>
          </a:solidFill>
          <a:ln w="12700">
            <a:solidFill>
              <a:srgbClr val="BFE0DA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49424"/>
            <a:ext cx="146304" cy="146304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17627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5059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— free tiers only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29184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Cloudflare Workers free tiers; recharts, papaparse and a rule-based sentiment library. No paid AI or LLM.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938528"/>
            <a:ext cx="5376672" cy="1993392"/>
          </a:xfrm>
          <a:prstGeom prst="roundRect">
            <a:avLst>
              <a:gd name="adj" fmla="val 4128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249424"/>
            <a:ext cx="146304" cy="146304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75704" y="217627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45059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29184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React + Supabase stack, with the business rules enforced in Postgres / RLS — comfortably inside free-tier limits.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5376672" cy="1993392"/>
          </a:xfrm>
          <a:prstGeom prst="roundRect">
            <a:avLst>
              <a:gd name="adj" fmla="val 4128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9536" y="4352544"/>
            <a:ext cx="146304" cy="146304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42793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55371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</a:t>
            </a:r>
            <a:endParaRPr lang="en-US" sz="33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512978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respond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539496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respondents finish a form unaided; CSV bulk import onboards hundreds; admins edit questions without code.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4041648"/>
            <a:ext cx="5376672" cy="1993392"/>
          </a:xfrm>
          <a:prstGeom prst="roundRect">
            <a:avLst>
              <a:gd name="adj" fmla="val 4128"/>
            </a:avLst>
          </a:prstGeom>
          <a:solidFill>
            <a:srgbClr val="ECF5F3"/>
          </a:solidFill>
          <a:ln w="12700">
            <a:solidFill>
              <a:srgbClr val="BFE0DA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352544"/>
            <a:ext cx="146304" cy="146304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75704" y="42793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55371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~1 mo</a:t>
            </a:r>
            <a:endParaRPr lang="en-US" sz="33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512978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· timeline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39496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 a four-week plan: schema &amp; auth → the five forms → the admin panel → the analytics dashboard.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app over a managed backend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CF5F3"/>
          </a:solidFill>
          <a:ln w="12700">
            <a:solidFill>
              <a:srgbClr val="BFE0DA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21396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single-page app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· React Router 7 · recharts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611880"/>
            <a:ext cx="3200400" cy="1298448"/>
          </a:xfrm>
          <a:prstGeom prst="roundRect">
            <a:avLst>
              <a:gd name="adj" fmla="val 6338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8096" y="37490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4078224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built static files and returns index.html for unmatched paths (SPA fallback).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2542032"/>
            <a:ext cx="658368" cy="420624"/>
          </a:xfrm>
          <a:prstGeom prst="rightArrow">
            <a:avLst/>
          </a:prstGeom>
          <a:solidFill>
            <a:srgbClr val="3347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75888" y="296265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874520"/>
            <a:ext cx="7007047" cy="3200400"/>
          </a:xfrm>
          <a:prstGeom prst="roundRect">
            <a:avLst>
              <a:gd name="adj" fmla="val 2571"/>
            </a:avLst>
          </a:prstGeom>
          <a:solidFill>
            <a:srgbClr val="EEF3F8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2011680"/>
            <a:ext cx="65498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managed backend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73752" y="2395728"/>
            <a:ext cx="649498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6632" y="2468880"/>
            <a:ext cx="61292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— the single source of truth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56632" y="2752344"/>
            <a:ext cx="61292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Row-Level Security policies · analytics functions · triggers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3752" y="3310128"/>
            <a:ext cx="6494983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56632" y="3383280"/>
            <a:ext cx="61292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56632" y="3666744"/>
            <a:ext cx="61292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password sessions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73752" y="4078224"/>
            <a:ext cx="649498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56632" y="4151376"/>
            <a:ext cx="61292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 (Deno / TypeScript)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56632" y="4434840"/>
            <a:ext cx="61292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invite-users — admin provisioning   ·   sign-in — private SAP-ID lookup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193792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1621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193792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rules live in the database, not the browser — RLS enforces every important rule at write time, so a stale tab or a hand-crafted API call cannot get around them.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168146" y="5943600"/>
            <a:ext cx="1027786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04722" y="5943600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23948" y="59436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0524" y="594360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20644" y="5943600"/>
            <a:ext cx="1565453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57220" y="5943600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14112" y="5943600"/>
            <a:ext cx="1027786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50688" y="5943600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9914" y="594360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06490" y="59436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04938" y="5943600"/>
            <a:ext cx="1027786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541514" y="5943600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60740" y="5943600"/>
            <a:ext cx="1117397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97316" y="5943600"/>
            <a:ext cx="10442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906152" y="5943600"/>
            <a:ext cx="1117397" cy="36576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42728" y="5943600"/>
            <a:ext cx="10442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insight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83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74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46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46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226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837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SAP 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7664" y="2779776"/>
            <a:ext cx="201168" cy="237744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62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034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034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514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7125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login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6464" y="2779776"/>
            <a:ext cx="201168" cy="237744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18" name="Shape 16"/>
          <p:cNvSpPr/>
          <p:nvPr/>
        </p:nvSpPr>
        <p:spPr>
          <a:xfrm>
            <a:off x="43950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322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322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802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413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own 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95264" y="2779776"/>
            <a:ext cx="201168" cy="237744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38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610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610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090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701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 · Ratings · Feedback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24064" y="2779776"/>
            <a:ext cx="201168" cy="237744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30" name="Shape 28"/>
          <p:cNvSpPr/>
          <p:nvPr/>
        </p:nvSpPr>
        <p:spPr>
          <a:xfrm>
            <a:off x="80526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98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898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6378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989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course, current cycle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52864" y="2779776"/>
            <a:ext cx="201168" cy="237744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36" name="Shape 34"/>
          <p:cNvSpPr/>
          <p:nvPr/>
        </p:nvSpPr>
        <p:spPr>
          <a:xfrm>
            <a:off x="9881464" y="2212848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DF2F6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18624" y="2359152"/>
            <a:ext cx="402336" cy="40233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018624" y="2345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466680" y="236829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027768" y="29260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cycle closes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9760" y="4279392"/>
            <a:ext cx="1920240" cy="877824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7776" y="427939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CSV import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58288" y="4617720"/>
            <a:ext cx="192024" cy="201168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45" name="Shape 43"/>
          <p:cNvSpPr/>
          <p:nvPr/>
        </p:nvSpPr>
        <p:spPr>
          <a:xfrm>
            <a:off x="2977744" y="4279392"/>
            <a:ext cx="1920240" cy="877824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05760" y="427939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questions (versioned)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916272" y="4617720"/>
            <a:ext cx="192024" cy="201168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48" name="Shape 46"/>
          <p:cNvSpPr/>
          <p:nvPr/>
        </p:nvSpPr>
        <p:spPr>
          <a:xfrm>
            <a:off x="5135728" y="4279392"/>
            <a:ext cx="1920240" cy="877824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63744" y="427939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 cycles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074256" y="4617720"/>
            <a:ext cx="192024" cy="201168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51" name="Shape 49"/>
          <p:cNvSpPr/>
          <p:nvPr/>
        </p:nvSpPr>
        <p:spPr>
          <a:xfrm>
            <a:off x="7293712" y="4279392"/>
            <a:ext cx="1920240" cy="877824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21728" y="427939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232240" y="4617720"/>
            <a:ext cx="192024" cy="201168"/>
          </a:xfrm>
          <a:prstGeom prst="rightArrow">
            <a:avLst/>
          </a:prstGeom>
          <a:solidFill>
            <a:srgbClr val="5D7186"/>
          </a:solidFill>
          <a:ln/>
        </p:spPr>
      </p:sp>
      <p:sp>
        <p:nvSpPr>
          <p:cNvPr id="54" name="Shape 52"/>
          <p:cNvSpPr/>
          <p:nvPr/>
        </p:nvSpPr>
        <p:spPr>
          <a:xfrm>
            <a:off x="9451696" y="4279392"/>
            <a:ext cx="1920240" cy="877824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79712" y="427939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66928" y="550468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CF5F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2960" y="5504688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the database: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submission per course per cycle, and edits are allowed only while the cycle is open — a stale browser tab cannot post after close.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one platform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58568"/>
            <a:ext cx="310896" cy="310896"/>
          </a:xfrm>
          <a:prstGeom prst="ellipse">
            <a:avLst/>
          </a:prstGeom>
          <a:solidFill>
            <a:srgbClr val="0E857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61872" y="2221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panel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807208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to the form for your stakeholder type, loaded live from the database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Sectioned form: About you → Your ratings → Your feedback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 on required fields before submit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submission per course, editable until the cycle closes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96596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258568"/>
            <a:ext cx="310896" cy="310896"/>
          </a:xfrm>
          <a:prstGeom prst="ellipse">
            <a:avLst/>
          </a:prstGeom>
          <a:solidFill>
            <a:srgbClr val="3347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2221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807208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create one-by-one or by CSV bulk import; soft removal keeps past data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&amp; departments, with archive vs. delete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with versioning + per-department curriculum PDF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cycles, one per academic year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96596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2258568"/>
            <a:ext cx="310896" cy="310896"/>
          </a:xfrm>
          <a:prstGeom prst="ellipse">
            <a:avLst/>
          </a:prstGeom>
          <a:solidFill>
            <a:srgbClr val="5D7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96528" y="2221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807208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counts &amp; completion, filterable by type / stream / department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averages and Likert distributions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trends across cycles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sentiment + auto-generated insights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A3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CSV export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responses into insight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20240"/>
          <a:ext cx="6400800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333488" y="1920240"/>
          <a:ext cx="4288536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4974336"/>
            <a:ext cx="11057839" cy="1225296"/>
          </a:xfrm>
          <a:prstGeom prst="roundRect">
            <a:avLst>
              <a:gd name="adj" fmla="val 6716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41248" y="5065776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NUMBERS ARE TRUSTWORTHY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41248" y="5358384"/>
            <a:ext cx="3274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are normalised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5614416"/>
            <a:ext cx="32287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use a 4-point scale, others 5-point — every rating is shown as a % of its own scale’s range.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344314" y="5358384"/>
            <a:ext cx="3274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applicable” excluded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344314" y="5614416"/>
            <a:ext cx="32287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Non-scoring answers carry no score and are left out of averages, never counted as zero.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847381" y="5358384"/>
            <a:ext cx="3274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denominators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847381" y="5614416"/>
            <a:ext cx="32287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and averages are counted separately, so Likert bars never appear to sum past 100%.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lives in the database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762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07008" y="212140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everywhere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4203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policies deciding, per row, what a caller may read or write — the edit window, privilege guards and HOD scope all live here.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3008" y="193852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9040" y="21762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73088" y="212140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privilege guard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54203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columns (role, status, sap_id…) change only via an admin or server. We found and fixed a real hole that let a student self-promote to admin.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40156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6393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358444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SAP-ID sign-in leaks nothing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00507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lookup runs inside a private Edge Function — a wrong SAP ID and a wrong password are deliberately indistinguishable.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3008" y="340156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89040" y="36393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73088" y="358444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Server-stamped provisioning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400507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account’s role and department come from server metadata, not the client. The all-powerful service_role key never reaches the browser.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86460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1023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504748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keeps its department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46811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stamps each response with the respondent’s department at submit time, so a later transfer cannot rewrite a past cycle’s totals.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3008" y="4864608"/>
            <a:ext cx="5391760" cy="1335024"/>
          </a:xfrm>
          <a:prstGeom prst="roundRect">
            <a:avLst>
              <a:gd name="adj" fmla="val 6164"/>
            </a:avLst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8593A3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89040" y="51023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E857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73088" y="5047488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exclude identity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07328" y="5468112"/>
            <a:ext cx="486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SAP numbers are dropped from CSV by key; free text is escaped against formula injection; post-login redirects are validated.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Feedback &amp; Analysis Platform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built — and what’s next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053328" cy="3310128"/>
          </a:xfrm>
          <a:prstGeom prst="roundRect">
            <a:avLst>
              <a:gd name="adj" fmla="val 2486"/>
            </a:avLst>
          </a:prstGeom>
          <a:solidFill>
            <a:srgbClr val="1E2A38"/>
          </a:solidFill>
          <a:ln w="12700">
            <a:solidFill>
              <a:srgbClr val="2F3F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22576"/>
            <a:ext cx="5138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routing — login by email or SAP ID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94660"/>
            <a:ext cx="5138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forms render live from the database, with validation, submit &amp; edit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66744"/>
            <a:ext cx="5138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users + CSV import, departments, versioned questions, cycles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357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38828"/>
            <a:ext cx="5138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counts, averages, distributions, year-over-year trends, sentiment, insights &amp; CSV export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84848" y="1783080"/>
            <a:ext cx="4839919" cy="3310128"/>
          </a:xfrm>
          <a:prstGeom prst="roundRect">
            <a:avLst>
              <a:gd name="adj" fmla="val 2486"/>
            </a:avLst>
          </a:prstGeom>
          <a:solidFill>
            <a:srgbClr val="1E2A38"/>
          </a:solidFill>
          <a:ln w="12700">
            <a:solidFill>
              <a:srgbClr val="2F3F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59168" y="1975104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 · FUTURE SCOPE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77456" y="2450592"/>
            <a:ext cx="137160" cy="137160"/>
          </a:xfrm>
          <a:prstGeom prst="ellipse">
            <a:avLst/>
          </a:prstGeom>
          <a:solidFill>
            <a:srgbClr val="5D7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88352" y="2340864"/>
            <a:ext cx="3943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summary report — PDF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77456" y="3054096"/>
            <a:ext cx="137160" cy="137160"/>
          </a:xfrm>
          <a:prstGeom prst="ellipse">
            <a:avLst/>
          </a:prstGeom>
          <a:solidFill>
            <a:srgbClr val="5D71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88352" y="2944368"/>
            <a:ext cx="3943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SMTP provider for at-scale email invites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77456" y="3657600"/>
            <a:ext cx="137160" cy="137160"/>
          </a:xfrm>
          <a:prstGeom prst="ellipse">
            <a:avLst/>
          </a:prstGeom>
          <a:solidFill>
            <a:srgbClr val="5D71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88352" y="3547872"/>
            <a:ext cx="3943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LLM-based qualitative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321808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0E8577"/>
          </a:solidFill>
          <a:ln/>
        </p:spPr>
      </p:sp>
      <p:sp>
        <p:nvSpPr>
          <p:cNvPr id="24" name="Shape 22"/>
          <p:cNvSpPr/>
          <p:nvPr/>
        </p:nvSpPr>
        <p:spPr>
          <a:xfrm>
            <a:off x="877824" y="5614416"/>
            <a:ext cx="457200" cy="32918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481328" y="53218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C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over to the working website: sign in  →  a stakeholder feedback form  →  the admin analytics dashboard.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46920" y="5596128"/>
            <a:ext cx="0" cy="365760"/>
          </a:xfrm>
          <a:prstGeom prst="line">
            <a:avLst/>
          </a:prstGeom>
          <a:noFill/>
          <a:ln w="12700">
            <a:solidFill>
              <a:srgbClr val="BFED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5321808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Feedback &amp; Analysis Platform</dc:title>
  <dc:subject>PptxGenJS Presentation</dc:subject>
  <dc:creator>Project Team</dc:creator>
  <cp:lastModifiedBy>Project Team</cp:lastModifiedBy>
  <cp:revision>1</cp:revision>
  <dcterms:created xsi:type="dcterms:W3CDTF">2026-09-27T12:24:23Z</dcterms:created>
  <dcterms:modified xsi:type="dcterms:W3CDTF">2026-09-27T12:24:23Z</dcterms:modified>
</cp:coreProperties>
</file>